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</p:sldIdLst>
  <p:sldSz cx="12192000" cy="6858000"/>
  <p:notesSz cx="6858000" cy="9144000"/>
  <p:embeddedFontLst>
    <p:embeddedFont>
      <p:font typeface="Inter"/>
      <p:regular r:id="rId28"/>
      <p:bold r:id="rId29"/>
      <p:italic r:id="rId30"/>
    </p:embeddedFont>
    <p:embeddedFont>
      <p:font typeface="FZYaYiHei GB18030L2 R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fonts/font1.fntdata" Type="http://schemas.openxmlformats.org/officeDocument/2006/relationships/font"/><Relationship Id="rId29" Target="fonts/font2.fntdata" Type="http://schemas.openxmlformats.org/officeDocument/2006/relationships/font"/><Relationship Id="rId3" Target="viewProps.xml" Type="http://schemas.openxmlformats.org/officeDocument/2006/relationships/viewProps"/><Relationship Id="rId30" Target="fonts/font3.fntdata" Type="http://schemas.openxmlformats.org/officeDocument/2006/relationships/font"/><Relationship Id="rId31" Target="fonts/font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好，今天我来介绍一个解决上位机开发痛点的新框架——Rivet。在上位机开发领域，我们长期面临一个结构性矛盾：设备交互需要高性能的后端语言，而用户界面又渴望Web技术的开发体验。Rivet正是为解决这个问题而生，它是一座连接后端能力与Web UI的桥梁。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来看看传统上位机开发的核心痛点。表面上，大家感受到的是UI表现力不够、状态更新麻烦、调试不直观。但深层原因其实是架构层面的问题——单人全栈开发导致设备逻辑和界面逻辑高度耦合，形成难以维护的技术债务。Qt、WinForms、WPF虽然都能做，但在现代UI开发效率和状态管理上存在明显短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ivet的目标很明确：分层解耦。让设备交互回归后端语言——C#、C++、Python，充分发挥它们对硬件、算法和性能的优势；让用户交互交给Web技术——Vue、Vite、现代CSS，获得现代化的UI表现力和开发效率。最后通过Tauri打包成桌面应用，用户不需要打开浏览器。这样我们同时获得了后端的性能控制力和前端的开发体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是Rivet的整体架构，分为四层。最上层是Tauri桌面壳，负责窗口管理和打包；往下是Vue前端层，专注用户交互；核心是Rivet桥接层，处理契约、代理生成、状态同步和连接管理；最下层是后端能力层，支持C#、C++、Python等多种语言。需要强调的是，Rivet本身不是业务框架，也不是UI框架，它是能力暴露层，负责把后端能力稳定、低心智负担地暴露给Web UI。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在使用方式上，Rivet遵循'后端独立、前端集成'的原则。后端项目引入Rivet核心包，定义服务和状态，框架自动生成契约文件；前端项目引入client和CLI，CLI根据契约生成类型安全的rv代理代码，Vue页面直接使用rv对象调用后端方法。重要的是，壳子能力由前端项目通过CLI接入，开发者不需要单独维护一个桌面壳工程，大大降低了工程复杂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Rivet的定位是多语言后端能力的统一桥接框架，不是C#专属工具。当前阶段用C#跑通主链路，是因为它在SignalR、Source Generator和设备DLL调用方面比较适合验证框架机制。但架构上我们支持C++接入厂商原生SDK和高性能算法库，也支持Python用于模型推理和自动化脚本。关键是前端看到的始终是统一的rv接口，完全屏蔽底层语言差异。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是一个完整的使用示例。大家看左侧的后端代码，我们用Rv&lt;bool&gt;声明了一个状态变量Opened，用[JsCallable]标注了OpenDevice方法。框架会自动处理状态同步，当设备打开后更新Opened的值，前端会自动收到通知。右侧前端代码中，我们直接调用rv.device.openDevice()，并绑定rv.device.opened.value到模板，完全是响应式的，不需要写任何通信代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看一下当前进展和规划。当前阶段我们已经完成了C#主链路的验证：后端声明状态和方法、自动生成契约和前端代理、基于SignalR+MessagePack的实时通信、Tauri桌面化验证都已跑通。后续规划包括：后端事件推送机制让前端能监听设备报警和数据到达，C++和Python后端核心包的开发，sidecar自动拉起后端进程，以及更完善的工程化模板和CLI工具链。最终目标是实现'引包即用'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一下，Rivet解决的是上位机开发的结构性矛盾。设备交互交给后端语言，用户交互交给Web技术，桌面交付交给Tauri壳，而中间的通信复杂性全部由Rivet自动处理。我们的目标是让开发者'写设备逻辑如后端开发，写用户界面如前端开发'，完全摆脱通信层的心智负担。这就是Rivet——上位机后端能力与Web UI之间的桥。感谢大家的聆听，欢迎交流。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感谢大家的时间。Rivet让上位机开发者用后端语言写设备，用Web技术写界面，同时不被中间通信层拖住。期待与各位在开源社区或技术交流中进一步探讨。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101E">
              <a:alpha val="34901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940085" y="2769989"/>
            <a:ext cx="8308782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 框架介绍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058820" y="3752850"/>
            <a:ext cx="8071312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9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上位机后端能力与 Web UI 的高效桥接方案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核心技术洞察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800100"/>
            <a:ext cx="11274781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传统上位机开发的核心痛点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466850"/>
            <a:ext cx="11731866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传统上位机开发工具（Qt、WinForms、WPF）虽能完成功能交付，但在UI表现力、状态维护、调试效率和工程组织层面存在结构性缺陷，导致设备逻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辑与界面逻辑高度耦合，长期维护成本居高不下，亟需技术架构层面的重新分层。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2283916"/>
            <a:ext cx="11274781" cy="169009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457086" y="2283916"/>
            <a:ext cx="1127478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721844" y="2568237"/>
            <a:ext cx="136173" cy="136208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4499" y="5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5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903756" y="2561629"/>
            <a:ext cx="1055195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5B8CB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表层问题：开发体验受限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733242" y="2888159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•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875189" y="2888159"/>
            <a:ext cx="105805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UI表现力不足，复杂布局、动态图表和主题切换的开发效率远低于现代Web技术栈，难以满足用户对现代化交互体验的期望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733242" y="3212009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•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875189" y="3212009"/>
            <a:ext cx="105805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状态更新机制繁琐，WinForms和Qt需要手动维护状态同步，WPF虽支持MVVM但工程复杂度显著提升，增加心智负担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733242" y="3535859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•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875189" y="3535859"/>
            <a:ext cx="105805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UI调试体验不直观，缺乏类似浏览器DevTools的实时布局检查和样式调试能力，问题定位和修复耗时较长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57086" y="4202609"/>
            <a:ext cx="11274781" cy="136624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 flipH="false" flipV="false" rot="0">
            <a:off x="457086" y="4202609"/>
            <a:ext cx="11274781" cy="9525"/>
          </a:xfrm>
          <a:prstGeom prst="line">
            <a:avLst/>
          </a:prstGeom>
          <a:ln w="28575">
            <a:solidFill>
              <a:srgbClr val="0A1F3D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Box 18"/>
          <p:cNvSpPr txBox="true"/>
          <p:nvPr/>
        </p:nvSpPr>
        <p:spPr>
          <a:xfrm flipH="false" flipV="false" rot="0">
            <a:off x="790377" y="4480323"/>
            <a:ext cx="106653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深层原因：架构耦合严重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733242" y="4806851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•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875189" y="4806851"/>
            <a:ext cx="105805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单人全栈开发模式下，开发者需同时负责设备交互、界面开发、状态管理和打包交付，缺乏前后端分离技术带来的专业分工和代码边界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733242" y="5130701"/>
            <a:ext cx="8481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0A1F3D">
                    <a:alpha val="100000"/>
                  </a:srgbClr>
                </a:solidFill>
                <a:latin typeface="Inter"/>
                <a:ea typeface="Inter"/>
                <a:cs typeface="Inter"/>
              </a:rPr>
              <a:t>•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875189" y="5130701"/>
            <a:ext cx="1058052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设备逻辑与界面逻辑在代码层面高度混杂，随着功能迭代形成难以拆解的技术债务，后期维护和扩展成本呈指数级增长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8001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 的目标：分层解耦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428750"/>
            <a:ext cx="11274781" cy="43993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通过架构层面的清晰分层，将设备交互交由后端语言保障性能与稳定性，将用户交互交由 Web 技术实现现代化 UI 体验与高效开发，最终通过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Tauri 壳实现桌面交付。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2213373"/>
            <a:ext cx="5485028" cy="41874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457086" y="2213373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745964" y="2603898"/>
            <a:ext cx="228543" cy="228600"/>
          </a:xfrm>
          <a:custGeom>
            <a:rect b="b" l="l" r="r" t="t"/>
            <a:pathLst>
              <a:path h="10000" w="9998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1063409" y="2599135"/>
            <a:ext cx="23248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与设备交互：后端语言层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771332" y="3165871"/>
            <a:ext cx="5170782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使用 C#、C++、Python 等后端语言编写，充分利用其对设备 SDK、算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法库和硬件调用的高性能支持。</a:t>
            </a:r>
            <a:endParaRPr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771332" y="3874294"/>
            <a:ext cx="5170782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专注处理实时性要求高的设备控制、复杂业务状态管理和本地资源调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度，确保系统稳定性和响应速度。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6246838" y="2213373"/>
            <a:ext cx="5485028" cy="418742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6246838" y="2213373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6535716" y="2603898"/>
            <a:ext cx="228543" cy="228600"/>
          </a:xfrm>
          <a:custGeom>
            <a:rect b="b" l="l" r="r" t="t"/>
            <a:pathLst>
              <a:path h="10000" w="9998">
                <a:moveTo>
                  <a:pt x="555" y="0"/>
                </a:move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moveTo>
                  <a:pt x="4444" y="8889"/>
                </a:moveTo>
                <a:lnTo>
                  <a:pt x="4444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4444" y="8889"/>
                </a:lnTo>
                <a:moveTo>
                  <a:pt x="5554" y="1111"/>
                </a:moveTo>
                <a:lnTo>
                  <a:pt x="5554" y="8889"/>
                </a:lnTo>
                <a:lnTo>
                  <a:pt x="8887" y="8889"/>
                </a:lnTo>
                <a:lnTo>
                  <a:pt x="8887" y="1111"/>
                </a:lnTo>
                <a:lnTo>
                  <a:pt x="5554" y="1111"/>
                </a:lnTo>
                <a:moveTo>
                  <a:pt x="4444" y="4444"/>
                </a:moveTo>
                <a:lnTo>
                  <a:pt x="4444" y="1111"/>
                </a:lnTo>
                <a:lnTo>
                  <a:pt x="1111" y="1111"/>
                </a:lnTo>
                <a:lnTo>
                  <a:pt x="1111" y="444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6853161" y="2599135"/>
            <a:ext cx="240922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与用户交互：Web 技术层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6561084" y="3165871"/>
            <a:ext cx="5170782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 Vue、Vite、现代图表库和 CSS 布局技术构建界面，获得丰富的组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件生态和高效的开发调试体验。</a:t>
            </a:r>
            <a:endParaRPr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6561084" y="3874294"/>
            <a:ext cx="5170782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 Tauri 壳打包为桌面应用交付，用户无需打开浏览器即可享受原生应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用的窗口体验。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整体架构：四层技术栈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352550"/>
            <a:ext cx="8570358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Rivet采用分层架构设计，各层通过明确契约解耦协作，从桌面壳层到后端能力层形成完整的技术闭环。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878211"/>
            <a:ext cx="2647288" cy="401969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457086" y="1878211"/>
            <a:ext cx="264728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671449" y="2226870"/>
            <a:ext cx="213307" cy="213360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8889"/>
                </a:moveTo>
                <a:lnTo>
                  <a:pt x="8998" y="4444"/>
                </a:lnTo>
                <a:lnTo>
                  <a:pt x="1000" y="4444"/>
                </a:lnTo>
                <a:lnTo>
                  <a:pt x="1000" y="8889"/>
                </a:lnTo>
                <a:lnTo>
                  <a:pt x="8998" y="8889"/>
                </a:lnTo>
                <a:moveTo>
                  <a:pt x="8998" y="3333"/>
                </a:moveTo>
                <a:lnTo>
                  <a:pt x="8998" y="1111"/>
                </a:lnTo>
                <a:lnTo>
                  <a:pt x="1000" y="1111"/>
                </a:lnTo>
                <a:lnTo>
                  <a:pt x="1000" y="3333"/>
                </a:lnTo>
                <a:lnTo>
                  <a:pt x="8998" y="3333"/>
                </a:lnTo>
                <a:moveTo>
                  <a:pt x="3499" y="1667"/>
                </a:moveTo>
                <a:lnTo>
                  <a:pt x="4499" y="1667"/>
                </a:lnTo>
                <a:lnTo>
                  <a:pt x="4499" y="2778"/>
                </a:lnTo>
                <a:lnTo>
                  <a:pt x="3499" y="2778"/>
                </a:lnTo>
                <a:lnTo>
                  <a:pt x="3499" y="1667"/>
                </a:lnTo>
                <a:moveTo>
                  <a:pt x="1500" y="1667"/>
                </a:moveTo>
                <a:lnTo>
                  <a:pt x="2500" y="1667"/>
                </a:lnTo>
                <a:lnTo>
                  <a:pt x="2500" y="2778"/>
                </a:lnTo>
                <a:lnTo>
                  <a:pt x="1500" y="277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956280" y="2259658"/>
            <a:ext cx="65691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Layer 01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695151" y="2665066"/>
            <a:ext cx="2171156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桌面壳层</a:t>
            </a:r>
            <a:endParaRPr lang="en-US" sz="1100"/>
          </a:p>
          <a:p>
            <a:pPr algn="l"/>
            <a:r>
              <a:rPr b="true" i="false" strike="noStrike" sz="1200">
                <a:ln/>
                <a:solidFill>
                  <a:srgbClr val="0A1F3D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（Tauri）</a:t>
            </a:r>
            <a:endParaRPr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695151" y="3331816"/>
            <a:ext cx="240922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基于WebView2提供窗口管理、应用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打包和sidecar进程托管能力，将Web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应用封装为原生桌面体验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3332917" y="1878211"/>
            <a:ext cx="2647288" cy="401969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3332917" y="1878211"/>
            <a:ext cx="264728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3547280" y="2226870"/>
            <a:ext cx="213307" cy="213360"/>
          </a:xfrm>
          <a:custGeom>
            <a:rect b="b" l="l" r="r" t="t"/>
            <a:pathLst>
              <a:path h="10000" w="9998">
                <a:moveTo>
                  <a:pt x="555" y="0"/>
                </a:move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moveTo>
                  <a:pt x="4444" y="8889"/>
                </a:moveTo>
                <a:lnTo>
                  <a:pt x="4444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4444" y="8889"/>
                </a:lnTo>
                <a:moveTo>
                  <a:pt x="5554" y="1111"/>
                </a:moveTo>
                <a:lnTo>
                  <a:pt x="5554" y="8889"/>
                </a:lnTo>
                <a:lnTo>
                  <a:pt x="8887" y="8889"/>
                </a:lnTo>
                <a:lnTo>
                  <a:pt x="8887" y="1111"/>
                </a:lnTo>
                <a:lnTo>
                  <a:pt x="5554" y="1111"/>
                </a:lnTo>
                <a:moveTo>
                  <a:pt x="4444" y="4444"/>
                </a:moveTo>
                <a:lnTo>
                  <a:pt x="4444" y="1111"/>
                </a:lnTo>
                <a:lnTo>
                  <a:pt x="1111" y="1111"/>
                </a:lnTo>
                <a:lnTo>
                  <a:pt x="1111" y="444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3832111" y="2259658"/>
            <a:ext cx="65691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Layer 02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3570982" y="2665066"/>
            <a:ext cx="2171156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前端层</a:t>
            </a:r>
            <a:endParaRPr lang="en-US" sz="1100"/>
          </a:p>
          <a:p>
            <a:pPr algn="l"/>
            <a:r>
              <a:rPr b="true" i="false" strike="noStrike" sz="1200">
                <a:ln/>
                <a:solidFill>
                  <a:srgbClr val="0A1F3D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（Vue）</a:t>
            </a:r>
            <a:endParaRPr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3570982" y="3331816"/>
            <a:ext cx="240922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负责页面路由、组件渲染、图表展示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和用户交互，通过rv运行时对象无缝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调用后端暴露的能力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208747" y="1878211"/>
            <a:ext cx="2647288" cy="401969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6208747" y="1878211"/>
            <a:ext cx="264728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6423110" y="2226870"/>
            <a:ext cx="213307" cy="213360"/>
          </a:xfrm>
          <a:custGeom>
            <a:rect b="b" l="l" r="r" t="t"/>
            <a:pathLst>
              <a:path h="10000" w="9998">
                <a:moveTo>
                  <a:pt x="555" y="0"/>
                </a:moveTo>
                <a:lnTo>
                  <a:pt x="3888" y="0"/>
                </a:lnTo>
                <a:cubicBezTo>
                  <a:pt x="4043" y="0"/>
                  <a:pt x="4174" y="48"/>
                  <a:pt x="4282" y="145"/>
                </a:cubicBezTo>
                <a:cubicBezTo>
                  <a:pt x="4390" y="241"/>
                  <a:pt x="4444" y="360"/>
                  <a:pt x="4444" y="500"/>
                </a:cubicBezTo>
                <a:lnTo>
                  <a:pt x="4444" y="2500"/>
                </a:lnTo>
                <a:cubicBezTo>
                  <a:pt x="4444" y="2640"/>
                  <a:pt x="4390" y="2758"/>
                  <a:pt x="4282" y="2855"/>
                </a:cubicBezTo>
                <a:cubicBezTo>
                  <a:pt x="4174" y="2951"/>
                  <a:pt x="4043" y="3000"/>
                  <a:pt x="3888" y="3000"/>
                </a:cubicBezTo>
                <a:lnTo>
                  <a:pt x="2777" y="3000"/>
                </a:lnTo>
                <a:lnTo>
                  <a:pt x="2777" y="4000"/>
                </a:lnTo>
                <a:lnTo>
                  <a:pt x="5554" y="4000"/>
                </a:lnTo>
                <a:lnTo>
                  <a:pt x="5554" y="3500"/>
                </a:lnTo>
                <a:cubicBezTo>
                  <a:pt x="5554" y="3360"/>
                  <a:pt x="5608" y="3241"/>
                  <a:pt x="5716" y="3145"/>
                </a:cubicBezTo>
                <a:cubicBezTo>
                  <a:pt x="5823" y="3048"/>
                  <a:pt x="5954" y="3000"/>
                  <a:pt x="6110" y="3000"/>
                </a:cubicBezTo>
                <a:lnTo>
                  <a:pt x="9443" y="3000"/>
                </a:lnTo>
                <a:cubicBezTo>
                  <a:pt x="9598" y="3000"/>
                  <a:pt x="9729" y="3048"/>
                  <a:pt x="9837" y="3145"/>
                </a:cubicBezTo>
                <a:cubicBezTo>
                  <a:pt x="9944" y="3241"/>
                  <a:pt x="9998" y="3360"/>
                  <a:pt x="9998" y="3500"/>
                </a:cubicBezTo>
                <a:lnTo>
                  <a:pt x="9998" y="5500"/>
                </a:lnTo>
                <a:cubicBezTo>
                  <a:pt x="9998" y="5640"/>
                  <a:pt x="9944" y="5758"/>
                  <a:pt x="9837" y="5855"/>
                </a:cubicBezTo>
                <a:cubicBezTo>
                  <a:pt x="9729" y="5951"/>
                  <a:pt x="9598" y="6000"/>
                  <a:pt x="9443" y="6000"/>
                </a:cubicBezTo>
                <a:lnTo>
                  <a:pt x="6110" y="6000"/>
                </a:lnTo>
                <a:cubicBezTo>
                  <a:pt x="5954" y="6000"/>
                  <a:pt x="5823" y="5951"/>
                  <a:pt x="5716" y="5855"/>
                </a:cubicBezTo>
                <a:cubicBezTo>
                  <a:pt x="5608" y="5758"/>
                  <a:pt x="5554" y="5640"/>
                  <a:pt x="5554" y="5500"/>
                </a:cubicBezTo>
                <a:lnTo>
                  <a:pt x="5554" y="5000"/>
                </a:lnTo>
                <a:lnTo>
                  <a:pt x="2777" y="5000"/>
                </a:lnTo>
                <a:lnTo>
                  <a:pt x="2777" y="8000"/>
                </a:lnTo>
                <a:lnTo>
                  <a:pt x="5554" y="8000"/>
                </a:lnTo>
                <a:lnTo>
                  <a:pt x="5554" y="7500"/>
                </a:lnTo>
                <a:cubicBezTo>
                  <a:pt x="5554" y="7360"/>
                  <a:pt x="5608" y="7241"/>
                  <a:pt x="5716" y="7145"/>
                </a:cubicBezTo>
                <a:cubicBezTo>
                  <a:pt x="5823" y="7048"/>
                  <a:pt x="5954" y="7000"/>
                  <a:pt x="6110" y="7000"/>
                </a:cubicBezTo>
                <a:lnTo>
                  <a:pt x="9443" y="7000"/>
                </a:lnTo>
                <a:cubicBezTo>
                  <a:pt x="9598" y="7000"/>
                  <a:pt x="9729" y="7048"/>
                  <a:pt x="9837" y="7145"/>
                </a:cubicBezTo>
                <a:cubicBezTo>
                  <a:pt x="9944" y="7241"/>
                  <a:pt x="9998" y="7360"/>
                  <a:pt x="9998" y="7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6110" y="10000"/>
                </a:lnTo>
                <a:cubicBezTo>
                  <a:pt x="5954" y="10000"/>
                  <a:pt x="5823" y="9951"/>
                  <a:pt x="5716" y="9855"/>
                </a:cubicBezTo>
                <a:cubicBezTo>
                  <a:pt x="5608" y="9758"/>
                  <a:pt x="5554" y="9640"/>
                  <a:pt x="5554" y="9500"/>
                </a:cubicBezTo>
                <a:lnTo>
                  <a:pt x="5554" y="9000"/>
                </a:lnTo>
                <a:lnTo>
                  <a:pt x="2222" y="9000"/>
                </a:lnTo>
                <a:cubicBezTo>
                  <a:pt x="2066" y="9000"/>
                  <a:pt x="1934" y="8951"/>
                  <a:pt x="1827" y="8855"/>
                </a:cubicBezTo>
                <a:cubicBezTo>
                  <a:pt x="1719" y="8758"/>
                  <a:pt x="1666" y="8640"/>
                  <a:pt x="1666" y="8500"/>
                </a:cubicBezTo>
                <a:lnTo>
                  <a:pt x="1666" y="3000"/>
                </a:lnTo>
                <a:lnTo>
                  <a:pt x="555" y="3000"/>
                </a:lnTo>
                <a:cubicBezTo>
                  <a:pt x="399" y="3000"/>
                  <a:pt x="268" y="2951"/>
                  <a:pt x="161" y="2855"/>
                </a:cubicBezTo>
                <a:cubicBezTo>
                  <a:pt x="53" y="2758"/>
                  <a:pt x="0" y="2640"/>
                  <a:pt x="0" y="2500"/>
                </a:cubicBez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moveTo>
                  <a:pt x="8887" y="9000"/>
                </a:moveTo>
                <a:lnTo>
                  <a:pt x="8887" y="8000"/>
                </a:lnTo>
                <a:lnTo>
                  <a:pt x="6665" y="8000"/>
                </a:lnTo>
                <a:lnTo>
                  <a:pt x="6665" y="9000"/>
                </a:lnTo>
                <a:lnTo>
                  <a:pt x="8887" y="9000"/>
                </a:lnTo>
                <a:moveTo>
                  <a:pt x="8887" y="5000"/>
                </a:moveTo>
                <a:lnTo>
                  <a:pt x="8887" y="4000"/>
                </a:lnTo>
                <a:lnTo>
                  <a:pt x="6665" y="4000"/>
                </a:lnTo>
                <a:lnTo>
                  <a:pt x="6665" y="5000"/>
                </a:lnTo>
                <a:lnTo>
                  <a:pt x="8887" y="5000"/>
                </a:lnTo>
                <a:moveTo>
                  <a:pt x="3333" y="2000"/>
                </a:moveTo>
                <a:lnTo>
                  <a:pt x="3333" y="1000"/>
                </a:lnTo>
                <a:lnTo>
                  <a:pt x="1111" y="1000"/>
                </a:lnTo>
                <a:lnTo>
                  <a:pt x="1111" y="2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6707941" y="2259658"/>
            <a:ext cx="65691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Layer 03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6446813" y="2665066"/>
            <a:ext cx="2171156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Rivet桥接层</a:t>
            </a:r>
            <a:endParaRPr lang="en-US" sz="1100"/>
          </a:p>
          <a:p>
            <a:pPr algn="l"/>
            <a:r>
              <a:rPr b="true" i="false" strike="noStrike" sz="1200">
                <a:ln/>
                <a:solidFill>
                  <a:srgbClr val="0A1F3D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（核心）</a:t>
            </a:r>
            <a:endParaRPr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6446813" y="3331816"/>
            <a:ext cx="240922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处理契约定义（contract）、前端代理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代码自动生成、双向状态同步、方法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调用路由和连接重连管理</a:t>
            </a:r>
            <a:endParaRPr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9084578" y="1878211"/>
            <a:ext cx="2647288" cy="401969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9084578" y="1878211"/>
            <a:ext cx="264728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 flipH="false" flipV="false" rot="0">
            <a:off x="9298941" y="2226870"/>
            <a:ext cx="213307" cy="213360"/>
          </a:xfrm>
          <a:custGeom>
            <a:rect b="b" l="l" r="r" t="t"/>
            <a:pathLst>
              <a:path h="10000" w="9998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9583772" y="2259658"/>
            <a:ext cx="65691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Layer 04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9322643" y="2665066"/>
            <a:ext cx="2171156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后端能力层</a:t>
            </a:r>
            <a:endParaRPr lang="en-US" sz="1100"/>
          </a:p>
          <a:p>
            <a:pPr algn="l"/>
            <a:r>
              <a:rPr b="true" i="false" strike="noStrike" sz="1200">
                <a:ln/>
                <a:solidFill>
                  <a:srgbClr val="0A1F3D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（多语言）</a:t>
            </a:r>
            <a:endParaRPr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9322643" y="3331816"/>
            <a:ext cx="2409223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承载C#、C++、Python等语言编写的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设备交互、算法计算和业务状态逻</a:t>
            </a:r>
            <a:endParaRPr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辑，通过Bridge向外界暴露能力</a:t>
            </a:r>
            <a:endParaRPr/>
          </a:p>
        </p:txBody>
      </p:sp>
      <p:sp>
        <p:nvSpPr>
          <p:cNvPr id="30" name="TextBox 30"/>
          <p:cNvSpPr txBox="true"/>
          <p:nvPr/>
        </p:nvSpPr>
        <p:spPr>
          <a:xfrm flipH="false" flipV="false" rot="0">
            <a:off x="4317168" y="6196905"/>
            <a:ext cx="114717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User Interface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 flipH="false" flipV="false" rot="0">
            <a:off x="5567845" y="6172215"/>
            <a:ext cx="182834" cy="182880"/>
          </a:xfrm>
          <a:custGeom>
            <a:rect b="b" l="l" r="r" t="t"/>
            <a:pathLst>
              <a:path h="10000" w="9998">
                <a:moveTo>
                  <a:pt x="5642" y="0"/>
                </a:moveTo>
                <a:lnTo>
                  <a:pt x="5642" y="7613"/>
                </a:lnTo>
                <a:lnTo>
                  <a:pt x="9086" y="4250"/>
                </a:lnTo>
                <a:lnTo>
                  <a:pt x="9998" y="5138"/>
                </a:lnTo>
                <a:lnTo>
                  <a:pt x="4999" y="10000"/>
                </a:lnTo>
                <a:lnTo>
                  <a:pt x="0" y="5138"/>
                </a:lnTo>
                <a:lnTo>
                  <a:pt x="912" y="4250"/>
                </a:lnTo>
                <a:lnTo>
                  <a:pt x="4356" y="7613"/>
                </a:lnTo>
                <a:lnTo>
                  <a:pt x="4356" y="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true"/>
          <p:nvPr/>
        </p:nvSpPr>
        <p:spPr>
          <a:xfrm flipH="false" flipV="false" rot="0">
            <a:off x="5882747" y="6196905"/>
            <a:ext cx="52166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Bridge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 flipH="false" flipV="false" rot="0">
            <a:off x="6507907" y="6172215"/>
            <a:ext cx="182834" cy="182880"/>
          </a:xfrm>
          <a:custGeom>
            <a:rect b="b" l="l" r="r" t="t"/>
            <a:pathLst>
              <a:path h="10000" w="9998">
                <a:moveTo>
                  <a:pt x="5642" y="0"/>
                </a:moveTo>
                <a:lnTo>
                  <a:pt x="5642" y="7613"/>
                </a:lnTo>
                <a:lnTo>
                  <a:pt x="9086" y="4250"/>
                </a:lnTo>
                <a:lnTo>
                  <a:pt x="9998" y="5138"/>
                </a:lnTo>
                <a:lnTo>
                  <a:pt x="4999" y="10000"/>
                </a:lnTo>
                <a:lnTo>
                  <a:pt x="0" y="5138"/>
                </a:lnTo>
                <a:lnTo>
                  <a:pt x="912" y="4250"/>
                </a:lnTo>
                <a:lnTo>
                  <a:pt x="4356" y="7613"/>
                </a:lnTo>
                <a:lnTo>
                  <a:pt x="4356" y="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true"/>
          <p:nvPr/>
        </p:nvSpPr>
        <p:spPr>
          <a:xfrm flipH="false" flipV="false" rot="0">
            <a:off x="6822807" y="6196905"/>
            <a:ext cx="107739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Device &amp; Logic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 框架介绍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依赖关系与使用方式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390650"/>
            <a:ext cx="11274781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Rivet的工程组织遵循"后端独立、前端集成"原则：后端项目引入核心包专注设备逻辑开发，前端项目引入client和CLI并承载Tauri壳能力，通过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契约生成实现类型安全的跨层调用。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2207716"/>
            <a:ext cx="3605799" cy="41930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457086" y="220771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707873" y="2560141"/>
            <a:ext cx="228543" cy="228600"/>
          </a:xfrm>
          <a:custGeom>
            <a:rect b="b" l="l" r="r" t="t"/>
            <a:pathLst>
              <a:path h="10000" w="9998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1025318" y="2555378"/>
            <a:ext cx="88173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后端项目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733242" y="3055441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995858" y="3074491"/>
            <a:ext cx="2791913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引入Rivet后端核心包，通过特性标注定义设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备服务、状态变量和可调用的业务方法</a:t>
            </a:r>
            <a:endParaRPr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733242" y="3693616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995858" y="3712666"/>
            <a:ext cx="2790871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框架自动扫描并生成rivet.contract.json契约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文件，描述暴露给前端的所有能力与数据类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型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4291428" y="2207716"/>
            <a:ext cx="3605948" cy="41930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4291428" y="220771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4542215" y="2560141"/>
            <a:ext cx="228543" cy="228600"/>
          </a:xfrm>
          <a:custGeom>
            <a:rect b="b" l="l" r="r" t="t"/>
            <a:pathLst>
              <a:path h="10000" w="9998">
                <a:moveTo>
                  <a:pt x="1000" y="1053"/>
                </a:moveTo>
                <a:lnTo>
                  <a:pt x="1000" y="6842"/>
                </a:lnTo>
                <a:lnTo>
                  <a:pt x="8998" y="6842"/>
                </a:lnTo>
                <a:lnTo>
                  <a:pt x="8998" y="1053"/>
                </a:lnTo>
                <a:lnTo>
                  <a:pt x="1000" y="1053"/>
                </a:lnTo>
                <a:moveTo>
                  <a:pt x="9498" y="7895"/>
                </a:moveTo>
                <a:lnTo>
                  <a:pt x="5499" y="7895"/>
                </a:lnTo>
                <a:lnTo>
                  <a:pt x="5499" y="8947"/>
                </a:lnTo>
                <a:lnTo>
                  <a:pt x="7499" y="8947"/>
                </a:lnTo>
                <a:lnTo>
                  <a:pt x="7499" y="10000"/>
                </a:lnTo>
                <a:lnTo>
                  <a:pt x="2500" y="10000"/>
                </a:lnTo>
                <a:lnTo>
                  <a:pt x="2500" y="8947"/>
                </a:lnTo>
                <a:lnTo>
                  <a:pt x="4499" y="8947"/>
                </a:lnTo>
                <a:lnTo>
                  <a:pt x="4499" y="7895"/>
                </a:lnTo>
                <a:lnTo>
                  <a:pt x="500" y="7895"/>
                </a:lnTo>
                <a:cubicBezTo>
                  <a:pt x="360" y="7895"/>
                  <a:pt x="241" y="7844"/>
                  <a:pt x="145" y="7742"/>
                </a:cubicBezTo>
                <a:cubicBezTo>
                  <a:pt x="48" y="7640"/>
                  <a:pt x="0" y="7515"/>
                  <a:pt x="0" y="7368"/>
                </a:cubicBezTo>
                <a:lnTo>
                  <a:pt x="0" y="526"/>
                </a:lnTo>
                <a:cubicBezTo>
                  <a:pt x="0" y="386"/>
                  <a:pt x="48" y="263"/>
                  <a:pt x="145" y="158"/>
                </a:cubicBezTo>
                <a:cubicBezTo>
                  <a:pt x="241" y="52"/>
                  <a:pt x="360" y="0"/>
                  <a:pt x="500" y="0"/>
                </a:cubicBezTo>
                <a:lnTo>
                  <a:pt x="9498" y="0"/>
                </a:lnTo>
                <a:cubicBezTo>
                  <a:pt x="9638" y="0"/>
                  <a:pt x="9756" y="51"/>
                  <a:pt x="9853" y="153"/>
                </a:cubicBezTo>
                <a:cubicBezTo>
                  <a:pt x="9949" y="254"/>
                  <a:pt x="9998" y="378"/>
                  <a:pt x="9998" y="526"/>
                </a:cubicBezTo>
                <a:lnTo>
                  <a:pt x="9998" y="7368"/>
                </a:lnTo>
                <a:cubicBezTo>
                  <a:pt x="9998" y="7508"/>
                  <a:pt x="9949" y="7631"/>
                  <a:pt x="9853" y="7737"/>
                </a:cubicBezTo>
                <a:cubicBezTo>
                  <a:pt x="9756" y="7842"/>
                  <a:pt x="9638" y="7895"/>
                  <a:pt x="9498" y="789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4859660" y="2555378"/>
            <a:ext cx="88173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前端项目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4567584" y="3055441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4830200" y="3074491"/>
            <a:ext cx="2807684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引入@rivet/client运行时和@rivet/cli工具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链，通过CLI根据契约生成类型安全的rv代理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代码</a:t>
            </a:r>
            <a:endParaRPr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4567584" y="393650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4830200" y="3955553"/>
            <a:ext cx="2791021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Vue页面直接使用rv对象调用后端方法，通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过模板接入Tauri壳能力，无需单独维护桌面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壳工程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8125918" y="2207716"/>
            <a:ext cx="3605799" cy="419308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 flipH="false" flipV="false" rot="0">
            <a:off x="8125918" y="220771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 flipH="false" flipV="false" rot="0">
            <a:off x="8376705" y="2560141"/>
            <a:ext cx="228543" cy="228600"/>
          </a:xfrm>
          <a:custGeom>
            <a:rect b="b" l="l" r="r" t="t"/>
            <a:pathLst>
              <a:path h="10000" w="9998">
                <a:moveTo>
                  <a:pt x="508" y="7583"/>
                </a:moveTo>
                <a:cubicBezTo>
                  <a:pt x="286" y="7203"/>
                  <a:pt x="117" y="6804"/>
                  <a:pt x="0" y="6384"/>
                </a:cubicBezTo>
                <a:cubicBezTo>
                  <a:pt x="256" y="6253"/>
                  <a:pt x="461" y="6064"/>
                  <a:pt x="617" y="5816"/>
                </a:cubicBezTo>
                <a:cubicBezTo>
                  <a:pt x="772" y="5568"/>
                  <a:pt x="850" y="5296"/>
                  <a:pt x="850" y="5000"/>
                </a:cubicBezTo>
                <a:cubicBezTo>
                  <a:pt x="850" y="4704"/>
                  <a:pt x="772" y="4432"/>
                  <a:pt x="617" y="4184"/>
                </a:cubicBezTo>
                <a:cubicBezTo>
                  <a:pt x="461" y="3936"/>
                  <a:pt x="256" y="3746"/>
                  <a:pt x="0" y="3616"/>
                </a:cubicBezTo>
                <a:cubicBezTo>
                  <a:pt x="242" y="2754"/>
                  <a:pt x="674" y="2007"/>
                  <a:pt x="1296" y="1374"/>
                </a:cubicBezTo>
                <a:cubicBezTo>
                  <a:pt x="1538" y="1532"/>
                  <a:pt x="1806" y="1617"/>
                  <a:pt x="2100" y="1627"/>
                </a:cubicBezTo>
                <a:cubicBezTo>
                  <a:pt x="2394" y="1637"/>
                  <a:pt x="2669" y="1568"/>
                  <a:pt x="2925" y="1420"/>
                </a:cubicBezTo>
                <a:cubicBezTo>
                  <a:pt x="3180" y="1272"/>
                  <a:pt x="3377" y="1069"/>
                  <a:pt x="3516" y="811"/>
                </a:cubicBezTo>
                <a:cubicBezTo>
                  <a:pt x="3654" y="553"/>
                  <a:pt x="3716" y="282"/>
                  <a:pt x="3703" y="0"/>
                </a:cubicBezTo>
                <a:cubicBezTo>
                  <a:pt x="4567" y="-227"/>
                  <a:pt x="5431" y="-227"/>
                  <a:pt x="6295" y="0"/>
                </a:cubicBezTo>
                <a:cubicBezTo>
                  <a:pt x="6281" y="282"/>
                  <a:pt x="6344" y="553"/>
                  <a:pt x="6482" y="811"/>
                </a:cubicBezTo>
                <a:cubicBezTo>
                  <a:pt x="6620" y="1069"/>
                  <a:pt x="6817" y="1272"/>
                  <a:pt x="7073" y="1420"/>
                </a:cubicBezTo>
                <a:cubicBezTo>
                  <a:pt x="7329" y="1568"/>
                  <a:pt x="7604" y="1637"/>
                  <a:pt x="7898" y="1627"/>
                </a:cubicBezTo>
                <a:cubicBezTo>
                  <a:pt x="8192" y="1617"/>
                  <a:pt x="8460" y="1532"/>
                  <a:pt x="8702" y="1374"/>
                </a:cubicBezTo>
                <a:cubicBezTo>
                  <a:pt x="9006" y="1690"/>
                  <a:pt x="9268" y="2038"/>
                  <a:pt x="9490" y="2417"/>
                </a:cubicBezTo>
                <a:cubicBezTo>
                  <a:pt x="9711" y="2796"/>
                  <a:pt x="9880" y="3196"/>
                  <a:pt x="9998" y="3616"/>
                </a:cubicBezTo>
                <a:cubicBezTo>
                  <a:pt x="9742" y="3746"/>
                  <a:pt x="9536" y="3936"/>
                  <a:pt x="9381" y="4184"/>
                </a:cubicBezTo>
                <a:cubicBezTo>
                  <a:pt x="9225" y="4432"/>
                  <a:pt x="9148" y="4704"/>
                  <a:pt x="9148" y="5000"/>
                </a:cubicBezTo>
                <a:cubicBezTo>
                  <a:pt x="9148" y="5296"/>
                  <a:pt x="9225" y="5568"/>
                  <a:pt x="9381" y="5816"/>
                </a:cubicBezTo>
                <a:cubicBezTo>
                  <a:pt x="9536" y="6064"/>
                  <a:pt x="9742" y="6253"/>
                  <a:pt x="9998" y="6384"/>
                </a:cubicBezTo>
                <a:cubicBezTo>
                  <a:pt x="9756" y="7245"/>
                  <a:pt x="9324" y="7992"/>
                  <a:pt x="8702" y="8626"/>
                </a:cubicBezTo>
                <a:cubicBezTo>
                  <a:pt x="8460" y="8467"/>
                  <a:pt x="8192" y="8383"/>
                  <a:pt x="7898" y="8373"/>
                </a:cubicBezTo>
                <a:cubicBezTo>
                  <a:pt x="7604" y="8362"/>
                  <a:pt x="7329" y="8431"/>
                  <a:pt x="7073" y="8580"/>
                </a:cubicBezTo>
                <a:cubicBezTo>
                  <a:pt x="6817" y="8728"/>
                  <a:pt x="6620" y="8931"/>
                  <a:pt x="6482" y="9189"/>
                </a:cubicBezTo>
                <a:cubicBezTo>
                  <a:pt x="6344" y="9447"/>
                  <a:pt x="6281" y="9717"/>
                  <a:pt x="6295" y="10000"/>
                </a:cubicBezTo>
                <a:cubicBezTo>
                  <a:pt x="5431" y="10227"/>
                  <a:pt x="4567" y="10227"/>
                  <a:pt x="3703" y="10000"/>
                </a:cubicBezTo>
                <a:cubicBezTo>
                  <a:pt x="3716" y="9717"/>
                  <a:pt x="3654" y="9447"/>
                  <a:pt x="3516" y="9189"/>
                </a:cubicBezTo>
                <a:cubicBezTo>
                  <a:pt x="3377" y="8931"/>
                  <a:pt x="3180" y="8728"/>
                  <a:pt x="2925" y="8580"/>
                </a:cubicBezTo>
                <a:cubicBezTo>
                  <a:pt x="2669" y="8431"/>
                  <a:pt x="2394" y="8362"/>
                  <a:pt x="2100" y="8373"/>
                </a:cubicBezTo>
                <a:cubicBezTo>
                  <a:pt x="1806" y="8383"/>
                  <a:pt x="1538" y="8467"/>
                  <a:pt x="1296" y="8626"/>
                </a:cubicBezTo>
                <a:cubicBezTo>
                  <a:pt x="992" y="8309"/>
                  <a:pt x="729" y="7961"/>
                  <a:pt x="508" y="7583"/>
                </a:cubicBezTo>
                <a:moveTo>
                  <a:pt x="3443" y="7686"/>
                </a:moveTo>
                <a:cubicBezTo>
                  <a:pt x="3719" y="7844"/>
                  <a:pt x="3958" y="8047"/>
                  <a:pt x="4159" y="8295"/>
                </a:cubicBezTo>
                <a:cubicBezTo>
                  <a:pt x="4359" y="8543"/>
                  <a:pt x="4511" y="8815"/>
                  <a:pt x="4615" y="9112"/>
                </a:cubicBezTo>
                <a:cubicBezTo>
                  <a:pt x="4871" y="9139"/>
                  <a:pt x="5127" y="9139"/>
                  <a:pt x="5383" y="9112"/>
                </a:cubicBezTo>
                <a:cubicBezTo>
                  <a:pt x="5486" y="8815"/>
                  <a:pt x="5636" y="8543"/>
                  <a:pt x="5834" y="8295"/>
                </a:cubicBezTo>
                <a:cubicBezTo>
                  <a:pt x="6030" y="8047"/>
                  <a:pt x="6269" y="7843"/>
                  <a:pt x="6550" y="7681"/>
                </a:cubicBezTo>
                <a:cubicBezTo>
                  <a:pt x="6830" y="7519"/>
                  <a:pt x="7129" y="7414"/>
                  <a:pt x="7447" y="7366"/>
                </a:cubicBezTo>
                <a:cubicBezTo>
                  <a:pt x="7765" y="7317"/>
                  <a:pt x="8076" y="7327"/>
                  <a:pt x="8380" y="7397"/>
                </a:cubicBezTo>
                <a:cubicBezTo>
                  <a:pt x="8532" y="7183"/>
                  <a:pt x="8663" y="6959"/>
                  <a:pt x="8774" y="6725"/>
                </a:cubicBezTo>
                <a:cubicBezTo>
                  <a:pt x="8560" y="6491"/>
                  <a:pt x="8396" y="6226"/>
                  <a:pt x="8282" y="5930"/>
                </a:cubicBezTo>
                <a:cubicBezTo>
                  <a:pt x="8167" y="5634"/>
                  <a:pt x="8110" y="5324"/>
                  <a:pt x="8110" y="5000"/>
                </a:cubicBezTo>
                <a:cubicBezTo>
                  <a:pt x="8110" y="4676"/>
                  <a:pt x="8167" y="4366"/>
                  <a:pt x="8282" y="4070"/>
                </a:cubicBezTo>
                <a:cubicBezTo>
                  <a:pt x="8396" y="3774"/>
                  <a:pt x="8560" y="3509"/>
                  <a:pt x="8774" y="3275"/>
                </a:cubicBezTo>
                <a:cubicBezTo>
                  <a:pt x="8718" y="3157"/>
                  <a:pt x="8658" y="3044"/>
                  <a:pt x="8593" y="2934"/>
                </a:cubicBezTo>
                <a:cubicBezTo>
                  <a:pt x="8527" y="2824"/>
                  <a:pt x="8456" y="2713"/>
                  <a:pt x="8380" y="2603"/>
                </a:cubicBezTo>
                <a:cubicBezTo>
                  <a:pt x="8076" y="2672"/>
                  <a:pt x="7765" y="2682"/>
                  <a:pt x="7447" y="2634"/>
                </a:cubicBezTo>
                <a:cubicBezTo>
                  <a:pt x="7129" y="2586"/>
                  <a:pt x="6831" y="2481"/>
                  <a:pt x="6555" y="2319"/>
                </a:cubicBezTo>
                <a:cubicBezTo>
                  <a:pt x="6278" y="2157"/>
                  <a:pt x="6039" y="1952"/>
                  <a:pt x="5839" y="1705"/>
                </a:cubicBezTo>
                <a:cubicBezTo>
                  <a:pt x="5638" y="1457"/>
                  <a:pt x="5486" y="1184"/>
                  <a:pt x="5383" y="888"/>
                </a:cubicBezTo>
                <a:cubicBezTo>
                  <a:pt x="5127" y="860"/>
                  <a:pt x="4871" y="860"/>
                  <a:pt x="4615" y="888"/>
                </a:cubicBezTo>
                <a:cubicBezTo>
                  <a:pt x="4511" y="1184"/>
                  <a:pt x="4361" y="1457"/>
                  <a:pt x="4164" y="1705"/>
                </a:cubicBezTo>
                <a:cubicBezTo>
                  <a:pt x="3967" y="1952"/>
                  <a:pt x="3727" y="2157"/>
                  <a:pt x="3443" y="2319"/>
                </a:cubicBezTo>
                <a:cubicBezTo>
                  <a:pt x="3159" y="2481"/>
                  <a:pt x="2860" y="2586"/>
                  <a:pt x="2546" y="2634"/>
                </a:cubicBezTo>
                <a:cubicBezTo>
                  <a:pt x="2231" y="2682"/>
                  <a:pt x="1922" y="2672"/>
                  <a:pt x="1618" y="2603"/>
                </a:cubicBezTo>
                <a:cubicBezTo>
                  <a:pt x="1466" y="2817"/>
                  <a:pt x="1334" y="3041"/>
                  <a:pt x="1224" y="3275"/>
                </a:cubicBezTo>
                <a:cubicBezTo>
                  <a:pt x="1438" y="3509"/>
                  <a:pt x="1602" y="3774"/>
                  <a:pt x="1716" y="4070"/>
                </a:cubicBezTo>
                <a:cubicBezTo>
                  <a:pt x="1830" y="4366"/>
                  <a:pt x="1888" y="4676"/>
                  <a:pt x="1888" y="5000"/>
                </a:cubicBezTo>
                <a:cubicBezTo>
                  <a:pt x="1888" y="5324"/>
                  <a:pt x="1830" y="5634"/>
                  <a:pt x="1716" y="5930"/>
                </a:cubicBezTo>
                <a:cubicBezTo>
                  <a:pt x="1602" y="6226"/>
                  <a:pt x="1438" y="6491"/>
                  <a:pt x="1224" y="6725"/>
                </a:cubicBezTo>
                <a:cubicBezTo>
                  <a:pt x="1279" y="6842"/>
                  <a:pt x="1339" y="6956"/>
                  <a:pt x="1405" y="7066"/>
                </a:cubicBezTo>
                <a:cubicBezTo>
                  <a:pt x="1471" y="7176"/>
                  <a:pt x="1542" y="7286"/>
                  <a:pt x="1618" y="7397"/>
                </a:cubicBezTo>
                <a:cubicBezTo>
                  <a:pt x="1922" y="7327"/>
                  <a:pt x="2233" y="7317"/>
                  <a:pt x="2551" y="7366"/>
                </a:cubicBezTo>
                <a:cubicBezTo>
                  <a:pt x="2869" y="7414"/>
                  <a:pt x="3166" y="7520"/>
                  <a:pt x="3443" y="7686"/>
                </a:cubicBezTo>
                <a:moveTo>
                  <a:pt x="4999" y="6550"/>
                </a:moveTo>
                <a:cubicBezTo>
                  <a:pt x="4715" y="6550"/>
                  <a:pt x="4454" y="6481"/>
                  <a:pt x="4216" y="6343"/>
                </a:cubicBezTo>
                <a:cubicBezTo>
                  <a:pt x="3977" y="6205"/>
                  <a:pt x="3789" y="6017"/>
                  <a:pt x="3651" y="5780"/>
                </a:cubicBezTo>
                <a:cubicBezTo>
                  <a:pt x="3512" y="5542"/>
                  <a:pt x="3443" y="5282"/>
                  <a:pt x="3443" y="5000"/>
                </a:cubicBezTo>
                <a:cubicBezTo>
                  <a:pt x="3443" y="4717"/>
                  <a:pt x="3512" y="4457"/>
                  <a:pt x="3651" y="4220"/>
                </a:cubicBezTo>
                <a:cubicBezTo>
                  <a:pt x="3789" y="3982"/>
                  <a:pt x="3977" y="3795"/>
                  <a:pt x="4216" y="3657"/>
                </a:cubicBezTo>
                <a:cubicBezTo>
                  <a:pt x="4454" y="3519"/>
                  <a:pt x="4715" y="3450"/>
                  <a:pt x="4999" y="3450"/>
                </a:cubicBezTo>
                <a:cubicBezTo>
                  <a:pt x="5282" y="3450"/>
                  <a:pt x="5543" y="3519"/>
                  <a:pt x="5782" y="3657"/>
                </a:cubicBezTo>
                <a:cubicBezTo>
                  <a:pt x="6020" y="3795"/>
                  <a:pt x="6209" y="3982"/>
                  <a:pt x="6347" y="4220"/>
                </a:cubicBezTo>
                <a:cubicBezTo>
                  <a:pt x="6485" y="4457"/>
                  <a:pt x="6555" y="4717"/>
                  <a:pt x="6555" y="5000"/>
                </a:cubicBezTo>
                <a:cubicBezTo>
                  <a:pt x="6555" y="5282"/>
                  <a:pt x="6485" y="5542"/>
                  <a:pt x="6347" y="5780"/>
                </a:cubicBezTo>
                <a:cubicBezTo>
                  <a:pt x="6209" y="6017"/>
                  <a:pt x="6020" y="6205"/>
                  <a:pt x="5782" y="6343"/>
                </a:cubicBezTo>
                <a:cubicBezTo>
                  <a:pt x="5543" y="6481"/>
                  <a:pt x="5282" y="6550"/>
                  <a:pt x="4999" y="6550"/>
                </a:cubicBezTo>
                <a:moveTo>
                  <a:pt x="4999" y="5517"/>
                </a:moveTo>
                <a:cubicBezTo>
                  <a:pt x="5144" y="5517"/>
                  <a:pt x="5267" y="5467"/>
                  <a:pt x="5367" y="5367"/>
                </a:cubicBezTo>
                <a:cubicBezTo>
                  <a:pt x="5467" y="5267"/>
                  <a:pt x="5518" y="5144"/>
                  <a:pt x="5518" y="5000"/>
                </a:cubicBezTo>
                <a:cubicBezTo>
                  <a:pt x="5518" y="4855"/>
                  <a:pt x="5467" y="4733"/>
                  <a:pt x="5367" y="4633"/>
                </a:cubicBezTo>
                <a:cubicBezTo>
                  <a:pt x="5267" y="4533"/>
                  <a:pt x="5144" y="4483"/>
                  <a:pt x="4999" y="4483"/>
                </a:cubicBezTo>
                <a:cubicBezTo>
                  <a:pt x="4853" y="4483"/>
                  <a:pt x="4731" y="4533"/>
                  <a:pt x="4631" y="4633"/>
                </a:cubicBezTo>
                <a:cubicBezTo>
                  <a:pt x="4530" y="4733"/>
                  <a:pt x="4480" y="4855"/>
                  <a:pt x="4480" y="5000"/>
                </a:cubicBezTo>
                <a:cubicBezTo>
                  <a:pt x="4480" y="5144"/>
                  <a:pt x="4530" y="5267"/>
                  <a:pt x="4631" y="5367"/>
                </a:cubicBezTo>
                <a:cubicBezTo>
                  <a:pt x="4731" y="5467"/>
                  <a:pt x="4853" y="5517"/>
                  <a:pt x="4999" y="551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true"/>
          <p:nvPr/>
        </p:nvSpPr>
        <p:spPr>
          <a:xfrm flipH="false" flipV="false" rot="0">
            <a:off x="8694151" y="2555378"/>
            <a:ext cx="88173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框架职责</a:t>
            </a:r>
            <a:endParaRPr lang="en-US" sz="1100"/>
          </a:p>
        </p:txBody>
      </p:sp>
      <p:sp>
        <p:nvSpPr>
          <p:cNvPr id="26" name="TextBox 26"/>
          <p:cNvSpPr txBox="true"/>
          <p:nvPr/>
        </p:nvSpPr>
        <p:spPr>
          <a:xfrm flipH="false" flipV="false" rot="0">
            <a:off x="8402075" y="3055441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8664691" y="3074491"/>
            <a:ext cx="2790871" cy="6477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后端核心负责扫描声明、提供Bridge运行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时；CLI生成前端代理；client维护连接与状</a:t>
            </a:r>
            <a:endParaRPr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态同步</a:t>
            </a:r>
            <a:endParaRPr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8402075" y="393650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8664691" y="3955553"/>
            <a:ext cx="2797269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壳子打包时通过前端模板将Web UI与本地后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端组合，开发者专注业务逻辑而非基础设施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后端能力：不限定 C#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390650"/>
            <a:ext cx="11274781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Rivet定位为多语言后端能力的统一桥接框架，通过统一契约确保前端始终面对一致的接口，完全屏蔽底层语言差异。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916311"/>
            <a:ext cx="3555061" cy="448448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false" flipV="false" rot="0">
            <a:off x="457086" y="1916311"/>
            <a:ext cx="355506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771332" y="2259211"/>
            <a:ext cx="29265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C#：服务与业务层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771332" y="2760166"/>
            <a:ext cx="3240815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适合构建本地服务、设备控制主流程、复杂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业务状态管理和异步任务调度</a:t>
            </a:r>
            <a:endParaRPr/>
          </a:p>
        </p:txBody>
      </p:sp>
      <p:sp>
        <p:nvSpPr>
          <p:cNvPr id="10" name="AutoShape 10"/>
          <p:cNvSpPr/>
          <p:nvPr/>
        </p:nvSpPr>
        <p:spPr>
          <a:xfrm flipH="false" flipV="false" rot="0">
            <a:off x="771332" y="3375423"/>
            <a:ext cx="9522" cy="822871"/>
          </a:xfrm>
          <a:prstGeom prst="line">
            <a:avLst/>
          </a:prstGeom>
          <a:ln w="19050">
            <a:solidFill>
              <a:srgbClr val="5B8CB8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904649" y="3423048"/>
            <a:ext cx="3107498" cy="7105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利用SignalR和Source Generator实现高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效的实时通信和代码生成，当前作为框架</a:t>
            </a:r>
            <a:endParaRPr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主验证语言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4316871" y="1916311"/>
            <a:ext cx="3555061" cy="448448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4316871" y="1916311"/>
            <a:ext cx="355506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4631117" y="2259211"/>
            <a:ext cx="29265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C++：性能与硬件层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4631117" y="2760166"/>
            <a:ext cx="3240815" cy="7105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用于接入厂商原生SDK、高性能算法库、采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集卡驱动和计算密集型模块，保障硬件交互</a:t>
            </a:r>
            <a:endParaRPr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的实时性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631117" y="3649712"/>
            <a:ext cx="9522" cy="548580"/>
          </a:xfrm>
          <a:prstGeom prst="line">
            <a:avLst/>
          </a:prstGeom>
          <a:ln w="19050">
            <a:solidFill>
              <a:srgbClr val="5B8CB8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4764434" y="3697337"/>
            <a:ext cx="2793252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通过PInvoke或C++/CLI桥接方式与Rivet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后端核心集成，暴露为统一契约的服务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8176656" y="1916311"/>
            <a:ext cx="3555210" cy="4484489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8176656" y="1916311"/>
            <a:ext cx="355521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8490902" y="2259211"/>
            <a:ext cx="292671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Python：脚本与模型层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8490902" y="2760166"/>
            <a:ext cx="3240964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适合机器学习模型推理、自动化脚本、数据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处理流程和快速原型验证场景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8490902" y="3375423"/>
            <a:ext cx="9522" cy="548580"/>
          </a:xfrm>
          <a:prstGeom prst="line">
            <a:avLst/>
          </a:prstGeom>
          <a:ln w="19050">
            <a:solidFill>
              <a:srgbClr val="5B8CB8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8624219" y="3423048"/>
            <a:ext cx="3107647" cy="43621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通过外部进程通信或Python.NET等方式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接入，同样通过契约封装为可调用的能力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 Framework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完整使用示例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1400175"/>
            <a:ext cx="11731866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Rivet通过声明式编程模型极大简化前后端协作：后端仅需用Rv&lt;T&gt;声明状态并用[JsCallable]标注方法，前端通过生成的rv代理直接调用方法并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响应式绑定状态，状态变更自动跨层同步。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44096" y="2173368"/>
            <a:ext cx="146648" cy="146685"/>
          </a:xfrm>
          <a:custGeom>
            <a:rect b="b" l="l" r="r" t="t"/>
            <a:pathLst>
              <a:path h="10000" w="9998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634891" y="2165746"/>
            <a:ext cx="530722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后端：C# 设备服务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547789"/>
            <a:ext cx="5485028" cy="3502522"/>
          </a:xfrm>
          <a:prstGeom prst="roundRect">
            <a:avLst>
              <a:gd fmla="val 568" name="adj"/>
            </a:avLst>
          </a:pr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647537" y="2766864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public sealed class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 DeviceService {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799899" y="2964953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public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 Rv&lt;</a:t>
            </a:r>
            <a:r>
              <a:rPr b="false" i="false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bool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&gt; Opened { </a:t>
            </a:r>
            <a:r>
              <a:rPr b="false" i="false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get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; } = </a:t>
            </a:r>
            <a:r>
              <a:rPr b="false" i="false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new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(</a:t>
            </a:r>
            <a:r>
              <a:rPr b="false" i="false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false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);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647537" y="3248769"/>
            <a:ext cx="9522" cy="350491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780854" y="3353544"/>
            <a:ext cx="4970807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// Rv&lt;T&gt;声明式定义状态，框架自动处理跨层同步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47537" y="378023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[JsCallable]public bool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 OpenDevice() {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799899" y="3978325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_device.Open();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799899" y="4176415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_device.OnCallback += () =&gt; CallbackCount.Value++;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799899" y="4374505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Opened.Value = </a:t>
            </a:r>
            <a:r>
              <a:rPr b="false" i="false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true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;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799899" y="4572596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return true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;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47537" y="477068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}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647537" y="5537895"/>
            <a:ext cx="5104124" cy="9525"/>
          </a:xfrm>
          <a:prstGeom prst="line">
            <a:avLst/>
          </a:prstGeom>
          <a:ln w="9525">
            <a:solidFill>
              <a:srgbClr val="FFFFFF">
                <a:alpha val="1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647537" y="569029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// [JsCallable]标注暴露方法，内部状态更新自动同步到前端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457086" y="6221759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后端专注设备逻辑，无需关注通信细节，Rv包装的状态变更会自动推送到Web前端。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6233848" y="2173368"/>
            <a:ext cx="146648" cy="146685"/>
          </a:xfrm>
          <a:custGeom>
            <a:rect b="b" l="l" r="r" t="t"/>
            <a:pathLst>
              <a:path h="10000" w="9998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6424643" y="2165746"/>
            <a:ext cx="530722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前端：Vue 用户界面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6246838" y="2547789"/>
            <a:ext cx="5485028" cy="3502522"/>
          </a:xfrm>
          <a:prstGeom prst="roundRect">
            <a:avLst>
              <a:gd fmla="val 568" name="adj"/>
            </a:avLst>
          </a:pr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true"/>
          <p:nvPr/>
        </p:nvSpPr>
        <p:spPr>
          <a:xfrm flipH="false" flipV="false" rot="0">
            <a:off x="6437290" y="2766864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&lt;script setup&gt;</a:t>
            </a:r>
            <a:endParaRPr lang="en-US" sz="1100"/>
          </a:p>
        </p:txBody>
      </p:sp>
      <p:sp>
        <p:nvSpPr>
          <p:cNvPr id="26" name="TextBox 26"/>
          <p:cNvSpPr txBox="true"/>
          <p:nvPr/>
        </p:nvSpPr>
        <p:spPr>
          <a:xfrm flipH="false" flipV="false" rot="0">
            <a:off x="6437290" y="3041153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async function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 openDevice() {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6589652" y="3239244"/>
            <a:ext cx="4951762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await</a:t>
            </a:r>
            <a:r>
              <a:rPr b="false" i="false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 rv.device.openDevice()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6437290" y="343733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}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 flipH="false" flipV="false" rot="0">
            <a:off x="6437290" y="3721150"/>
            <a:ext cx="9522" cy="350491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true"/>
          <p:nvPr/>
        </p:nvSpPr>
        <p:spPr>
          <a:xfrm flipH="false" flipV="false" rot="0">
            <a:off x="6570607" y="3825925"/>
            <a:ext cx="4970807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// 直接调用后端方法，类型安全且有代码提示，完全像调用本地函数</a:t>
            </a:r>
            <a:endParaRPr lang="en-US" sz="1100"/>
          </a:p>
        </p:txBody>
      </p:sp>
      <p:sp>
        <p:nvSpPr>
          <p:cNvPr id="31" name="TextBox 31"/>
          <p:cNvSpPr txBox="true"/>
          <p:nvPr/>
        </p:nvSpPr>
        <p:spPr>
          <a:xfrm flipH="false" flipV="false" rot="0">
            <a:off x="6437290" y="421451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&lt;template&gt;</a:t>
            </a:r>
            <a:endParaRPr lang="en-US" sz="1100"/>
          </a:p>
        </p:txBody>
      </p:sp>
      <p:sp>
        <p:nvSpPr>
          <p:cNvPr id="32" name="TextBox 32"/>
          <p:cNvSpPr txBox="true"/>
          <p:nvPr/>
        </p:nvSpPr>
        <p:spPr>
          <a:xfrm flipH="false" flipV="false" rot="0">
            <a:off x="6513472" y="4412605"/>
            <a:ext cx="5027943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&lt;button @click='openDevice'&gt;打开设备&lt;/button&gt;</a:t>
            </a:r>
            <a:endParaRPr lang="en-US" sz="1100"/>
          </a:p>
        </p:txBody>
      </p:sp>
      <p:sp>
        <p:nvSpPr>
          <p:cNvPr id="33" name="TextBox 33"/>
          <p:cNvSpPr txBox="true"/>
          <p:nvPr/>
        </p:nvSpPr>
        <p:spPr>
          <a:xfrm flipH="false" flipV="false" rot="0">
            <a:off x="6513472" y="4610696"/>
            <a:ext cx="521839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100000"/>
                  </a:srgbClr>
                </a:solidFill>
                <a:latin typeface="Inter"/>
                <a:ea typeface="Inter"/>
                <a:cs typeface="Inter"/>
              </a:rPr>
              <a:t>&lt;div&gt;状态：{{ rv.device.opened.value ? '已打开' : '未打开' }}&lt;/div&gt;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 flipH="false" flipV="false" rot="0">
            <a:off x="6437290" y="5537895"/>
            <a:ext cx="5104124" cy="9525"/>
          </a:xfrm>
          <a:prstGeom prst="line">
            <a:avLst/>
          </a:prstGeom>
          <a:ln w="9525">
            <a:solidFill>
              <a:srgbClr val="FFFFFF">
                <a:alpha val="1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35"/>
          <p:cNvSpPr txBox="true"/>
          <p:nvPr/>
        </p:nvSpPr>
        <p:spPr>
          <a:xfrm flipH="false" flipV="false" rot="0">
            <a:off x="6437290" y="5690295"/>
            <a:ext cx="5104124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900">
                <a:ln/>
                <a:solidFill>
                  <a:srgbClr val="7A8FA8">
                    <a:alpha val="100000"/>
                  </a:srgbClr>
                </a:solidFill>
                <a:latin typeface="Inter"/>
                <a:ea typeface="Inter"/>
                <a:cs typeface="Inter"/>
              </a:rPr>
              <a:t>// 模板直接绑定状态，响应式更新由Rivet运行时自动处理</a:t>
            </a:r>
            <a:endParaRPr lang="en-US" sz="1100"/>
          </a:p>
        </p:txBody>
      </p:sp>
      <p:sp>
        <p:nvSpPr>
          <p:cNvPr id="36" name="TextBox 36"/>
          <p:cNvSpPr txBox="true"/>
          <p:nvPr/>
        </p:nvSpPr>
        <p:spPr>
          <a:xfrm flipH="false" flipV="false" rot="0">
            <a:off x="6246838" y="6221759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前端代码简洁直观，状态绑定和方法调用都通过rv代理完成，开发体验与纯前端应用无异。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514222" y="476250"/>
            <a:ext cx="1121764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 ROADMAP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当前阶段与后续目标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504950"/>
            <a:ext cx="11274781" cy="8858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false" flipV="false" rot="0">
            <a:off x="457086" y="1504950"/>
            <a:ext cx="9522" cy="8858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714196" y="1743075"/>
            <a:ext cx="1147475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关键进展：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Rivet当前已完成C#主链路验证，实现契约生成、代理代码、状态同步和Tauri桌面化的完整闭环。后续重点扩展后端事件推送机制、多语言接入、sidecar进程管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理和工程化工具链，达成"引包即用、零桥接层维护"的开发者体验目标。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695575"/>
            <a:ext cx="5485028" cy="37052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695575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712113" y="3038475"/>
            <a:ext cx="190452" cy="190500"/>
          </a:xfrm>
          <a:custGeom>
            <a:rect b="b" l="l" r="r" t="t"/>
            <a:pathLst>
              <a:path h="10000" w="9998">
                <a:moveTo>
                  <a:pt x="3226" y="3538"/>
                </a:moveTo>
                <a:lnTo>
                  <a:pt x="4844" y="6478"/>
                </a:lnTo>
                <a:lnTo>
                  <a:pt x="5483" y="7641"/>
                </a:lnTo>
                <a:lnTo>
                  <a:pt x="9358" y="615"/>
                </a:lnTo>
                <a:lnTo>
                  <a:pt x="9998" y="1794"/>
                </a:lnTo>
                <a:lnTo>
                  <a:pt x="5483" y="10000"/>
                </a:lnTo>
                <a:lnTo>
                  <a:pt x="2577" y="4701"/>
                </a:lnTo>
                <a:lnTo>
                  <a:pt x="3226" y="3538"/>
                </a:lnTo>
                <a:moveTo>
                  <a:pt x="5483" y="5299"/>
                </a:moveTo>
                <a:lnTo>
                  <a:pt x="4844" y="4120"/>
                </a:lnTo>
                <a:lnTo>
                  <a:pt x="7101" y="0"/>
                </a:lnTo>
                <a:lnTo>
                  <a:pt x="7750" y="1179"/>
                </a:lnTo>
                <a:lnTo>
                  <a:pt x="5483" y="5299"/>
                </a:lnTo>
                <a:moveTo>
                  <a:pt x="1289" y="4701"/>
                </a:moveTo>
                <a:lnTo>
                  <a:pt x="3555" y="8821"/>
                </a:lnTo>
                <a:lnTo>
                  <a:pt x="2906" y="10000"/>
                </a:lnTo>
                <a:lnTo>
                  <a:pt x="0" y="4701"/>
                </a:lnTo>
                <a:lnTo>
                  <a:pt x="640" y="3538"/>
                </a:lnTo>
                <a:lnTo>
                  <a:pt x="1289" y="4701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976663" y="3028950"/>
            <a:ext cx="17343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当前阶段（已落地）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733242" y="3505200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995858" y="3505200"/>
            <a:ext cx="4670101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C#后端支持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Rv&lt;T&gt;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状态声明和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[JsCallable]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方法标注，自动生成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rivet.contract.json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契约和前端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rv.generated.ts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代理代码</a:t>
            </a:r>
            <a:endParaRPr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733242" y="4143375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995858" y="4143375"/>
            <a:ext cx="4670101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基于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SignalR+MessagePack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的实时通信，支持方法调用和双向状态同步，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Tauri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壳完成桌面化验证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6246838" y="2695575"/>
            <a:ext cx="5485028" cy="370522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 flipH="false" flipV="false" rot="0">
            <a:off x="6246838" y="2695575"/>
            <a:ext cx="548502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6501865" y="3038475"/>
            <a:ext cx="190452" cy="190500"/>
          </a:xfrm>
          <a:custGeom>
            <a:rect b="b" l="l" r="r" t="t"/>
            <a:pathLst>
              <a:path h="10000" w="9998">
                <a:moveTo>
                  <a:pt x="1054" y="5365"/>
                </a:moveTo>
                <a:cubicBezTo>
                  <a:pt x="1054" y="4565"/>
                  <a:pt x="1223" y="3800"/>
                  <a:pt x="1561" y="3071"/>
                </a:cubicBezTo>
                <a:cubicBezTo>
                  <a:pt x="1891" y="2367"/>
                  <a:pt x="2355" y="1748"/>
                  <a:pt x="2953" y="1214"/>
                </a:cubicBezTo>
                <a:cubicBezTo>
                  <a:pt x="3550" y="680"/>
                  <a:pt x="4232" y="275"/>
                  <a:pt x="4999" y="0"/>
                </a:cubicBezTo>
                <a:cubicBezTo>
                  <a:pt x="5765" y="275"/>
                  <a:pt x="6447" y="680"/>
                  <a:pt x="7045" y="1214"/>
                </a:cubicBezTo>
                <a:cubicBezTo>
                  <a:pt x="7642" y="1748"/>
                  <a:pt x="8106" y="2367"/>
                  <a:pt x="8437" y="3071"/>
                </a:cubicBezTo>
                <a:cubicBezTo>
                  <a:pt x="8775" y="3800"/>
                  <a:pt x="8944" y="4565"/>
                  <a:pt x="8944" y="5365"/>
                </a:cubicBezTo>
                <a:cubicBezTo>
                  <a:pt x="8944" y="5755"/>
                  <a:pt x="8902" y="6138"/>
                  <a:pt x="8820" y="6516"/>
                </a:cubicBezTo>
                <a:lnTo>
                  <a:pt x="9913" y="7390"/>
                </a:lnTo>
                <a:cubicBezTo>
                  <a:pt x="9958" y="7428"/>
                  <a:pt x="9986" y="7474"/>
                  <a:pt x="9998" y="7529"/>
                </a:cubicBezTo>
                <a:cubicBezTo>
                  <a:pt x="10009" y="7583"/>
                  <a:pt x="10000" y="7635"/>
                  <a:pt x="9970" y="7687"/>
                </a:cubicBezTo>
                <a:lnTo>
                  <a:pt x="8561" y="9875"/>
                </a:lnTo>
                <a:cubicBezTo>
                  <a:pt x="8523" y="9933"/>
                  <a:pt x="8466" y="9971"/>
                  <a:pt x="8392" y="9990"/>
                </a:cubicBezTo>
                <a:cubicBezTo>
                  <a:pt x="8316" y="10009"/>
                  <a:pt x="8245" y="10003"/>
                  <a:pt x="8178" y="9971"/>
                </a:cubicBezTo>
                <a:cubicBezTo>
                  <a:pt x="8155" y="9965"/>
                  <a:pt x="8132" y="9952"/>
                  <a:pt x="8110" y="9933"/>
                </a:cubicBezTo>
                <a:lnTo>
                  <a:pt x="6859" y="8858"/>
                </a:lnTo>
                <a:cubicBezTo>
                  <a:pt x="6746" y="8768"/>
                  <a:pt x="6611" y="8724"/>
                  <a:pt x="6453" y="8724"/>
                </a:cubicBezTo>
                <a:lnTo>
                  <a:pt x="3545" y="8724"/>
                </a:lnTo>
                <a:cubicBezTo>
                  <a:pt x="3387" y="8724"/>
                  <a:pt x="3251" y="8768"/>
                  <a:pt x="3139" y="8858"/>
                </a:cubicBezTo>
                <a:lnTo>
                  <a:pt x="1888" y="9933"/>
                </a:lnTo>
                <a:cubicBezTo>
                  <a:pt x="1828" y="9977"/>
                  <a:pt x="1760" y="10000"/>
                  <a:pt x="1685" y="10000"/>
                </a:cubicBezTo>
                <a:cubicBezTo>
                  <a:pt x="1609" y="10000"/>
                  <a:pt x="1542" y="9977"/>
                  <a:pt x="1482" y="9933"/>
                </a:cubicBezTo>
                <a:cubicBezTo>
                  <a:pt x="1467" y="9920"/>
                  <a:pt x="1452" y="9901"/>
                  <a:pt x="1437" y="9875"/>
                </a:cubicBezTo>
                <a:lnTo>
                  <a:pt x="28" y="7687"/>
                </a:lnTo>
                <a:cubicBezTo>
                  <a:pt x="-2" y="7635"/>
                  <a:pt x="-11" y="7583"/>
                  <a:pt x="0" y="7529"/>
                </a:cubicBezTo>
                <a:cubicBezTo>
                  <a:pt x="11" y="7474"/>
                  <a:pt x="39" y="7428"/>
                  <a:pt x="85" y="7390"/>
                </a:cubicBezTo>
                <a:lnTo>
                  <a:pt x="1178" y="6516"/>
                </a:lnTo>
                <a:cubicBezTo>
                  <a:pt x="1095" y="6138"/>
                  <a:pt x="1054" y="5755"/>
                  <a:pt x="1054" y="5365"/>
                </a:cubicBezTo>
                <a:moveTo>
                  <a:pt x="1336" y="7706"/>
                </a:moveTo>
                <a:lnTo>
                  <a:pt x="1888" y="8570"/>
                </a:lnTo>
                <a:lnTo>
                  <a:pt x="2350" y="8186"/>
                </a:lnTo>
                <a:cubicBezTo>
                  <a:pt x="2508" y="8052"/>
                  <a:pt x="2690" y="7948"/>
                  <a:pt x="2897" y="7874"/>
                </a:cubicBezTo>
                <a:cubicBezTo>
                  <a:pt x="3103" y="7800"/>
                  <a:pt x="3319" y="7764"/>
                  <a:pt x="3545" y="7764"/>
                </a:cubicBezTo>
                <a:lnTo>
                  <a:pt x="6453" y="7764"/>
                </a:lnTo>
                <a:cubicBezTo>
                  <a:pt x="6678" y="7764"/>
                  <a:pt x="6894" y="7800"/>
                  <a:pt x="7101" y="7874"/>
                </a:cubicBezTo>
                <a:cubicBezTo>
                  <a:pt x="7307" y="7948"/>
                  <a:pt x="7490" y="8052"/>
                  <a:pt x="7648" y="8186"/>
                </a:cubicBezTo>
                <a:lnTo>
                  <a:pt x="8110" y="8570"/>
                </a:lnTo>
                <a:lnTo>
                  <a:pt x="8662" y="7706"/>
                </a:lnTo>
                <a:lnTo>
                  <a:pt x="8042" y="7217"/>
                </a:lnTo>
                <a:cubicBezTo>
                  <a:pt x="7906" y="7101"/>
                  <a:pt x="7809" y="6967"/>
                  <a:pt x="7749" y="6814"/>
                </a:cubicBezTo>
                <a:cubicBezTo>
                  <a:pt x="7689" y="6660"/>
                  <a:pt x="7677" y="6503"/>
                  <a:pt x="7715" y="6344"/>
                </a:cubicBezTo>
                <a:cubicBezTo>
                  <a:pt x="7783" y="6017"/>
                  <a:pt x="7817" y="5691"/>
                  <a:pt x="7817" y="5365"/>
                </a:cubicBezTo>
                <a:cubicBezTo>
                  <a:pt x="7817" y="4750"/>
                  <a:pt x="7700" y="4161"/>
                  <a:pt x="7468" y="3599"/>
                </a:cubicBezTo>
                <a:cubicBezTo>
                  <a:pt x="7234" y="3049"/>
                  <a:pt x="6905" y="2554"/>
                  <a:pt x="6481" y="2116"/>
                </a:cubicBezTo>
                <a:cubicBezTo>
                  <a:pt x="6056" y="1678"/>
                  <a:pt x="5562" y="1327"/>
                  <a:pt x="4999" y="1065"/>
                </a:cubicBezTo>
                <a:cubicBezTo>
                  <a:pt x="4435" y="1327"/>
                  <a:pt x="3941" y="1678"/>
                  <a:pt x="3517" y="2116"/>
                </a:cubicBezTo>
                <a:cubicBezTo>
                  <a:pt x="3092" y="2554"/>
                  <a:pt x="2763" y="3049"/>
                  <a:pt x="2530" y="3599"/>
                </a:cubicBezTo>
                <a:cubicBezTo>
                  <a:pt x="2297" y="4161"/>
                  <a:pt x="2181" y="4750"/>
                  <a:pt x="2181" y="5365"/>
                </a:cubicBezTo>
                <a:cubicBezTo>
                  <a:pt x="2181" y="5691"/>
                  <a:pt x="2215" y="6017"/>
                  <a:pt x="2283" y="6344"/>
                </a:cubicBezTo>
                <a:cubicBezTo>
                  <a:pt x="2320" y="6503"/>
                  <a:pt x="2309" y="6660"/>
                  <a:pt x="2249" y="6814"/>
                </a:cubicBezTo>
                <a:cubicBezTo>
                  <a:pt x="2189" y="6967"/>
                  <a:pt x="2091" y="7101"/>
                  <a:pt x="1956" y="7217"/>
                </a:cubicBezTo>
                <a:lnTo>
                  <a:pt x="1336" y="7706"/>
                </a:lnTo>
                <a:moveTo>
                  <a:pt x="4999" y="5365"/>
                </a:moveTo>
                <a:cubicBezTo>
                  <a:pt x="4796" y="5365"/>
                  <a:pt x="4608" y="5321"/>
                  <a:pt x="4435" y="5235"/>
                </a:cubicBezTo>
                <a:cubicBezTo>
                  <a:pt x="4262" y="5149"/>
                  <a:pt x="4125" y="5032"/>
                  <a:pt x="4024" y="4885"/>
                </a:cubicBezTo>
                <a:cubicBezTo>
                  <a:pt x="3922" y="4737"/>
                  <a:pt x="3872" y="4577"/>
                  <a:pt x="3872" y="4405"/>
                </a:cubicBezTo>
                <a:cubicBezTo>
                  <a:pt x="3872" y="4232"/>
                  <a:pt x="3922" y="4072"/>
                  <a:pt x="4024" y="3925"/>
                </a:cubicBezTo>
                <a:cubicBezTo>
                  <a:pt x="4125" y="3777"/>
                  <a:pt x="4262" y="3661"/>
                  <a:pt x="4435" y="3575"/>
                </a:cubicBezTo>
                <a:cubicBezTo>
                  <a:pt x="4608" y="3488"/>
                  <a:pt x="4796" y="3445"/>
                  <a:pt x="4999" y="3445"/>
                </a:cubicBezTo>
                <a:cubicBezTo>
                  <a:pt x="5201" y="3445"/>
                  <a:pt x="5389" y="3488"/>
                  <a:pt x="5563" y="3575"/>
                </a:cubicBezTo>
                <a:cubicBezTo>
                  <a:pt x="5735" y="3661"/>
                  <a:pt x="5872" y="3777"/>
                  <a:pt x="5974" y="3925"/>
                </a:cubicBezTo>
                <a:cubicBezTo>
                  <a:pt x="6075" y="4072"/>
                  <a:pt x="6126" y="4232"/>
                  <a:pt x="6126" y="4405"/>
                </a:cubicBezTo>
                <a:cubicBezTo>
                  <a:pt x="6126" y="4577"/>
                  <a:pt x="6075" y="4737"/>
                  <a:pt x="5974" y="4885"/>
                </a:cubicBezTo>
                <a:cubicBezTo>
                  <a:pt x="5872" y="5032"/>
                  <a:pt x="5735" y="5149"/>
                  <a:pt x="5563" y="5235"/>
                </a:cubicBezTo>
                <a:cubicBezTo>
                  <a:pt x="5389" y="5321"/>
                  <a:pt x="5201" y="5365"/>
                  <a:pt x="4999" y="536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766415" y="3028950"/>
            <a:ext cx="17343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后续目标（规划中）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6522994" y="3505200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6785610" y="3505200"/>
            <a:ext cx="4670101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后端事件前端监听（设备报警、数据到达），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C++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和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Python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后端核心包开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发，sidecar自动拉起后端进程</a:t>
            </a:r>
            <a:endParaRPr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6522994" y="4143375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6785610" y="4143375"/>
            <a:ext cx="4670101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完善项目模板与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CLI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工具链，优化开发调试和打包发布全流程体验，实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现"后端引包、前端引包、壳子能力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Inter"/>
                <a:ea typeface="Inter"/>
                <a:cs typeface="Inter"/>
              </a:rPr>
              <a:t>CLI</a:t>
            </a:r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接入"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3F4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304724" y="304800"/>
            <a:ext cx="11579504" cy="65532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876080" y="781050"/>
            <a:ext cx="103350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761810" y="1104900"/>
            <a:ext cx="10665333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761810" y="1847850"/>
            <a:ext cx="9522" cy="874216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1018920" y="1895475"/>
            <a:ext cx="10865308" cy="77331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3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Rivet通过架构层面的创新解决上位机开发的结构性矛盾：让后端语言专注设备与性能，让Web技术专注UI与体验，让Tauri壳负责桌面交</a:t>
            </a:r>
            <a:endParaRPr lang="en-US" sz="1100"/>
          </a:p>
          <a:p>
            <a:pPr algn="l"/>
            <a:r>
              <a:rPr b="false" i="false" strike="noStrike" sz="13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付，而Rivet自身承担所有跨层通信的复杂性。最终目标是让开发者</a:t>
            </a:r>
            <a:r>
              <a:rPr b="true" i="false" strike="noStrike" sz="1300">
                <a:ln/>
                <a:solidFill>
                  <a:srgbClr val="5B8CB8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"写设备逻辑如后端开发，写用户界面如前端开发"</a:t>
            </a:r>
            <a:r>
              <a:rPr b="false" i="false" strike="noStrike" sz="13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，彻底摆脱通信层的</a:t>
            </a:r>
            <a:endParaRPr/>
          </a:p>
          <a:p>
            <a:pPr algn="l"/>
            <a:r>
              <a:rPr b="false" i="false" strike="noStrike" sz="13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心智负担。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761810" y="3026866"/>
            <a:ext cx="5218394" cy="172506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761810" y="3026866"/>
            <a:ext cx="521839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978747" y="3345953"/>
            <a:ext cx="190452" cy="190500"/>
          </a:xfrm>
          <a:custGeom>
            <a:rect b="b" l="l" r="r" t="t"/>
            <a:pathLst>
              <a:path h="10000" w="9998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1262342" y="3322141"/>
            <a:ext cx="67565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设备层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999875" y="3798391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设备交互由C#/C++/Python等后端语言完成，充分利用其对硬件、算法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和本地资源的高性能操控能力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6208747" y="3026866"/>
            <a:ext cx="5218394" cy="172506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6208747" y="3026866"/>
            <a:ext cx="521839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425684" y="3345953"/>
            <a:ext cx="190452" cy="190500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8889"/>
                </a:moveTo>
                <a:lnTo>
                  <a:pt x="8998" y="4444"/>
                </a:lnTo>
                <a:lnTo>
                  <a:pt x="1000" y="4444"/>
                </a:lnTo>
                <a:lnTo>
                  <a:pt x="1000" y="8889"/>
                </a:lnTo>
                <a:lnTo>
                  <a:pt x="8998" y="8889"/>
                </a:lnTo>
                <a:moveTo>
                  <a:pt x="8998" y="3333"/>
                </a:moveTo>
                <a:lnTo>
                  <a:pt x="8998" y="1111"/>
                </a:lnTo>
                <a:lnTo>
                  <a:pt x="1000" y="1111"/>
                </a:lnTo>
                <a:lnTo>
                  <a:pt x="1000" y="3333"/>
                </a:lnTo>
                <a:lnTo>
                  <a:pt x="8998" y="3333"/>
                </a:lnTo>
                <a:moveTo>
                  <a:pt x="3499" y="1667"/>
                </a:moveTo>
                <a:lnTo>
                  <a:pt x="4499" y="1667"/>
                </a:lnTo>
                <a:lnTo>
                  <a:pt x="4499" y="2778"/>
                </a:lnTo>
                <a:lnTo>
                  <a:pt x="3499" y="2778"/>
                </a:lnTo>
                <a:lnTo>
                  <a:pt x="3499" y="1667"/>
                </a:lnTo>
                <a:moveTo>
                  <a:pt x="1500" y="1667"/>
                </a:moveTo>
                <a:lnTo>
                  <a:pt x="2500" y="1667"/>
                </a:lnTo>
                <a:lnTo>
                  <a:pt x="2500" y="2778"/>
                </a:lnTo>
                <a:lnTo>
                  <a:pt x="1500" y="277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6709280" y="3322141"/>
            <a:ext cx="4728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UI层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6446813" y="3798391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用户交互由Vue/Web技术完成，获得现代UI框架的表现力、组件生态和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高效调试体验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761810" y="4980534"/>
            <a:ext cx="5218394" cy="172506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761810" y="4980534"/>
            <a:ext cx="521839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978747" y="5299621"/>
            <a:ext cx="190452" cy="190500"/>
          </a:xfrm>
          <a:custGeom>
            <a:rect b="b" l="l" r="r" t="t"/>
            <a:pathLst>
              <a:path h="10000" w="9998">
                <a:moveTo>
                  <a:pt x="0" y="2500"/>
                </a:moveTo>
                <a:lnTo>
                  <a:pt x="4999" y="0"/>
                </a:lnTo>
                <a:lnTo>
                  <a:pt x="9998" y="2500"/>
                </a:lnTo>
                <a:lnTo>
                  <a:pt x="9998" y="7500"/>
                </a:lnTo>
                <a:lnTo>
                  <a:pt x="4999" y="10000"/>
                </a:lnTo>
                <a:lnTo>
                  <a:pt x="0" y="7500"/>
                </a:lnTo>
                <a:lnTo>
                  <a:pt x="0" y="2500"/>
                </a:lnTo>
                <a:moveTo>
                  <a:pt x="4999" y="1055"/>
                </a:moveTo>
                <a:lnTo>
                  <a:pt x="1579" y="2764"/>
                </a:lnTo>
                <a:lnTo>
                  <a:pt x="4999" y="4473"/>
                </a:lnTo>
                <a:lnTo>
                  <a:pt x="8419" y="2764"/>
                </a:lnTo>
                <a:lnTo>
                  <a:pt x="4999" y="1055"/>
                </a:lnTo>
                <a:moveTo>
                  <a:pt x="4473" y="5264"/>
                </a:moveTo>
                <a:lnTo>
                  <a:pt x="1052" y="3555"/>
                </a:lnTo>
                <a:lnTo>
                  <a:pt x="1052" y="6973"/>
                </a:lnTo>
                <a:lnTo>
                  <a:pt x="4473" y="8691"/>
                </a:lnTo>
                <a:lnTo>
                  <a:pt x="4473" y="5264"/>
                </a:lnTo>
                <a:moveTo>
                  <a:pt x="5525" y="5264"/>
                </a:moveTo>
                <a:lnTo>
                  <a:pt x="5525" y="8682"/>
                </a:lnTo>
                <a:lnTo>
                  <a:pt x="8946" y="6973"/>
                </a:lnTo>
                <a:lnTo>
                  <a:pt x="8946" y="355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1262342" y="5275809"/>
            <a:ext cx="67565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交付层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999875" y="5752059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桌面交付由Tauri壳完成，前端项目通过CLI接入壳能力，无需单独维护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桌面工程</a:t>
            </a:r>
            <a:endParaRPr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6208747" y="4980534"/>
            <a:ext cx="5218394" cy="172506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 flipH="false" flipV="false" rot="0">
            <a:off x="6208747" y="4980534"/>
            <a:ext cx="521839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6425684" y="5299621"/>
            <a:ext cx="190452" cy="19050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999" y="8000"/>
                </a:moveTo>
                <a:lnTo>
                  <a:pt x="2500" y="5500"/>
                </a:lnTo>
                <a:lnTo>
                  <a:pt x="6999" y="5500"/>
                </a:lnTo>
                <a:lnTo>
                  <a:pt x="6999" y="6500"/>
                </a:lnTo>
                <a:lnTo>
                  <a:pt x="4999" y="6500"/>
                </a:lnTo>
                <a:lnTo>
                  <a:pt x="4999" y="8000"/>
                </a:lnTo>
                <a:moveTo>
                  <a:pt x="2999" y="3500"/>
                </a:moveTo>
                <a:lnTo>
                  <a:pt x="4999" y="3500"/>
                </a:lnTo>
                <a:lnTo>
                  <a:pt x="4999" y="2000"/>
                </a:lnTo>
                <a:lnTo>
                  <a:pt x="7499" y="4500"/>
                </a:lnTo>
                <a:lnTo>
                  <a:pt x="2999" y="4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true"/>
          <p:nvPr/>
        </p:nvSpPr>
        <p:spPr>
          <a:xfrm flipH="false" flipV="false" rot="0">
            <a:off x="6709280" y="5275809"/>
            <a:ext cx="67565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通信层</a:t>
            </a:r>
            <a:endParaRPr lang="en-US" sz="1100"/>
          </a:p>
        </p:txBody>
      </p:sp>
      <p:sp>
        <p:nvSpPr>
          <p:cNvPr id="27" name="TextBox 27"/>
          <p:cNvSpPr txBox="true"/>
          <p:nvPr/>
        </p:nvSpPr>
        <p:spPr>
          <a:xfrm flipH="false" flipV="false" rot="0">
            <a:off x="6446813" y="5752059"/>
            <a:ext cx="4980329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契约定义、通信协议、状态同步和代理生成由Rivet全自动处理，开发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者零成本获得跨层协作能力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4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2600568" y="2674591"/>
            <a:ext cx="6987817" cy="838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none"/>
          <a:lstStyle/>
          <a:p>
            <a:pPr algn="ctr">
              <a:defRPr/>
            </a:pPr>
            <a:r>
              <a:rPr b="true" i="false" lang="en-US" strike="noStrike" sz="60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Rivet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569000" y="3817591"/>
            <a:ext cx="9050951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800">
                <a:ln/>
                <a:solidFill>
                  <a:srgbClr val="F1F3F5">
                    <a:alpha val="9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让上位机开发既保留后端性能，又获得 Web UI 的开发体验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